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s" id="{f69eb5fe-3a82-a670-4bb5-c62c857addf5}">
          <p14:sldIdLst/>
        </p14:section>
        <p14:section name="Default-1" id="{1f7dc431-2f6d-9986-9542-b5809e0144a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CoverSlide: photo under veil (78% white), cover-title 26pt bold, cover-subtitle 14pt bold Times New Roman in ink-muted. Date form: Oct. 28, 2026. No slide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SectionSlide: the cover without the subtitle; title is the section question; optional footnote link to the tracking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SectionPlain: a white divider with one centred line of slide-title at 2.57in and the slide number. The presenter name at the head of a block in a shared deck, or a sub-section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FigureSlide: ContentHeader + LeadParagraph + FigureFrame + Footnote. The figure is a draw.io export; it sits between body-top (1.55in) and body-bottom (5.20in), no border.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DiagramPalette: copy elements from the kit, keep the style string, change the label, export, place with FigureFrame. fig- tokens only; labels Times New Roman; ❄️ frozen / 🔥 trainable are the only emoji.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TableSlide / ResultsTable at (0.56, 1.14)in, 9pt, 0.75pt grid; header and reference row D9D9D9, group one CFE2F3, group two FCE5CD; bold the best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SettingsTable: one row per paper/model, bold header on D1E0F9, 8pt, no bands; checks as the letter v; numbered notes in 8pt 595959 directly under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PaperSlide: area as title, paper as topic, typed-dash notes in Arial 12pt with a 0.075in inset, the paper's own figures in the body, arXiv link as *1. Figures never climb beside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DiscussionSlide: 13pt Times New Roman prose fills the body; the key formula bold CC0000; a tentative aside 9E9E9E; one body rule splits the prose from a notes block and a figure. Left-aligned, never justified.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CodeCompare: every block is a Carbon image (monokai, Hack 14px, line numbers, no shadow, 2x) rendered by the research-slides skill; a 13pt serif label above each; responses in the two 4.55in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Equation + Pseudocode: LaTeX standalone renders at 400dpi placed at px/400 in (1:1 with 12pt body); algorithm2e ruled, line-numbered, no semicolons. Never typed with the equation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TextSlide: LeadParagraph + Bullets. Dash for observations, ➔ for consequences; inline code chip 8pt Courier New 2B3038 on F4F4F4; run callout on F9CB9C; urgent note bold CC0000.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PromptBlock: Courier New 10pt slide text; role labels bold; {placeholders} bold FF0000; chat-template tokens on C9DAF8; system prompt words in 1155CC. Not a Carbon image: the marks carry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FigureFrame + OverlayMarker: run-label 11.5pt Times New Roman above the picture; overlay-peach FFDC9F and overlay-pink FFACAC at 50%; outline 1.5pt FF0000 with no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TodoSlide: title TODO, a dated dash list in Arial 12pt with a 0.075in inset; bold the blocking item; ➔ for what follows. No figure, no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310896" y="1682496"/>
            <a:ext cx="8522208" cy="17739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329184" y="3968496"/>
            <a:ext cx="8522208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310896" y="1682496"/>
            <a:ext cx="8522208" cy="17739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0" y="4791456"/>
            <a:ext cx="786384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" y="2350008"/>
            <a:ext cx="8531352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365760" y="576072"/>
            <a:ext cx="84124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4" name="Shape 0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0" y="4791456"/>
            <a:ext cx="786384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EA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365760" y="576072"/>
            <a:ext cx="84124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4" name="Shape 0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01752" y="932688"/>
            <a:ext cx="8531352" cy="5577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0" y="4791456"/>
            <a:ext cx="786384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orridfish/just3d/issues/17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orridfish/lrm/issues/6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pdf/2408.11039" TargetMode="Externa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5.05470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orridfish/lrm/issues/6" TargetMode="Externa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Progress Report</a:t>
            </a:r>
            <a:endParaRPr lang="en-US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329184" y="3968496"/>
            <a:ext cx="8522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Woven Anypoint Project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Oct. 28, 2026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10896" y="1682496"/>
            <a:ext cx="852220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Experiment: Does KV cache help?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Link: </a:t>
            </a:r>
            <a:pPr indent="0" marL="0">
              <a:buNone/>
            </a:pPr>
            <a:r>
              <a:rPr lang="en-US" u="sng" dirty="0">
                <a:solidFill>
                  <a:srgbClr val="0000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https://github.com/torridfish/just3d/issues/17</a:t>
            </a: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310896" y="1682496"/>
            <a:ext cx="852220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" y="2350008"/>
            <a:ext cx="8531352" cy="438912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冠霆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Experiment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LLM backbone as its own proposer</a:t>
            </a:r>
            <a:endParaRPr lang="en-US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301752" y="932688"/>
            <a:ext cx="8531352" cy="5577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Will KV cache benefit downstream tasks?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Will this architecture close the gap between real score and oracle grounding score?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Proposal should be scene-shared, so KV cache </a:t>
            </a:r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reuse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here might not be the main proposal.</a:t>
            </a:r>
            <a:endParaRPr lang="en-US" dirty="0"/>
          </a:p>
        </p:txBody>
      </p:sp>
      <p:pic>
        <p:nvPicPr>
          <p:cNvPr id="7" name="Figure: LLM backbone as its own proposer (draw.io export)" descr="/home/torridfish/Downloads/slides/research-slides/project/assets/Figures/diagram-propo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64208"/>
            <a:ext cx="5120640" cy="31272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Setup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draw.io diagram kit</a:t>
            </a:r>
            <a:endParaRPr lang="en-US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301752" y="932688"/>
            <a:ext cx="8531352" cy="5577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architecture figure is drawn in draw.io from this kit, exported at scale 2, and placed as a picture.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Source: assets/Diagrams/research-slides-diagram-kit.drawio — export with the research-slides skill: scripts/drawio-export.sh</a:t>
            </a:r>
            <a:endParaRPr lang="en-US" dirty="0"/>
          </a:p>
        </p:txBody>
      </p:sp>
      <p:pic>
        <p:nvPicPr>
          <p:cNvPr id="7" name="Research Slides diagram kit (draw.io export)" descr="/home/torridfish/Downloads/slides/research-slides/project/assets/Diagrams/research-slides-diagram-k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81328"/>
            <a:ext cx="7498080" cy="33101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Benchmark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ScanRefer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2-92 is last week's reference; 4-00 is this week's run, 4-03 the best of the category C setups.</a:t>
            </a:r>
            <a:endParaRPr lang="en-US" dirty="0"/>
          </a:p>
        </p:txBody>
      </p:sp>
      <p:graphicFrame>
        <p:nvGraphicFramePr>
          <p:cNvPr id="7" name="ScanRefer 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042416"/>
          <a:ext cx="6949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914400"/>
                <a:gridCol w="1143000"/>
                <a:gridCol w="114300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Acc@0.25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Acc@0.50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Acc@0.25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Acc@0.50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Acc@0.25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Acc@0.50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Appendix: Reasoning representation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Previous work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u="sng" dirty="0">
                <a:solidFill>
                  <a:srgbClr val="0000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https://github.com/torridfish/lrm/issues/6</a:t>
            </a:r>
            <a:endParaRPr lang="en-US" dirty="0"/>
          </a:p>
        </p:txBody>
      </p:sp>
      <p:graphicFrame>
        <p:nvGraphicFramePr>
          <p:cNvPr id="8" name="Setting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42416"/>
          <a:ext cx="7955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822960"/>
                <a:gridCol w="914400"/>
                <a:gridCol w="3017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Discrete language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vocab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C3oT, CoT-Valve, Markovian Transformers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hidden state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residual stream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Coconut, CODI, LOTUS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latent tokens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Auxiliary codebook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Heima, CoLaR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/ diffusion latents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VAE latent space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LaDiR, FLaRe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able notes"/>
          <p:cNvSpPr txBox="1"/>
          <p:nvPr/>
        </p:nvSpPr>
        <p:spPr>
          <a:xfrm>
            <a:off x="594360" y="30632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Recoverable to text through an auxiliary decoder (VQ-VAE / VAE decoder, SAE features), not directly readable.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 native thought distribution; sampling can be bolted on afterwards.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Heima ships an explainer that partially decodes its thinking tokens.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CoLaR: latent head predicts a distribution over compressed embeddings.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Backbone sharing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Transfusion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u="sng" dirty="0">
                <a:solidFill>
                  <a:srgbClr val="0000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https://arxiv.org/pdf/2408.11039</a:t>
            </a:r>
            <a:endParaRPr lang="en-US" dirty="0"/>
          </a:p>
        </p:txBody>
      </p:sp>
      <p:sp>
        <p:nvSpPr>
          <p:cNvPr id="6" name="Notes"/>
          <p:cNvSpPr txBox="1"/>
          <p:nvPr/>
        </p:nvSpPr>
        <p:spPr>
          <a:xfrm>
            <a:off x="301752" y="932688"/>
            <a:ext cx="8531352" cy="1097280"/>
          </a:xfrm>
          <a:prstGeom prst="rect">
            <a:avLst/>
          </a:prstGeom>
          <a:noFill/>
          <a:ln/>
        </p:spPr>
        <p:txBody>
          <a:bodyPr wrap="square" lIns="68580" tIns="68580" rIns="68580" bIns="6858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transformer backbone between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text generation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 (denoising)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modality-specific layers only at the input and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Our analogue: one backbone for the answer tokens and the latent thought, a head per modality</a:t>
            </a:r>
            <a:endParaRPr lang="en-US" sz="1200" dirty="0"/>
          </a:p>
        </p:txBody>
      </p:sp>
      <p:pic>
        <p:nvPicPr>
          <p:cNvPr id="7" name="Paper figure 1 (stand-in: draw.io export)" descr="/home/torridfish/Downloads/slides/research-slides/project/assets/Diagrams/anchorseg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2240280"/>
            <a:ext cx="3840480" cy="2514600"/>
          </a:xfrm>
          <a:prstGeom prst="rect">
            <a:avLst/>
          </a:prstGeom>
        </p:spPr>
      </p:pic>
      <p:pic>
        <p:nvPicPr>
          <p:cNvPr id="8" name="Paper figure 2 (stand-in: draw.io export)" descr="/home/torridfish/Downloads/slides/research-slides/project/assets/Diagrams/qwen_3d_architec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542032"/>
            <a:ext cx="4462272" cy="22128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Reasoning quality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Helpfulness (WIP)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u="sng" dirty="0">
                <a:solidFill>
                  <a:srgbClr val="0000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https://arxiv.org/abs/2505.05470</a:t>
            </a:r>
            <a:endParaRPr lang="en-US" dirty="0"/>
          </a:p>
        </p:txBody>
      </p:sp>
      <p:sp>
        <p:nvSpPr>
          <p:cNvPr id="6" name="Prose"/>
          <p:cNvSpPr txBox="1"/>
          <p:nvPr/>
        </p:nvSpPr>
        <p:spPr>
          <a:xfrm>
            <a:off x="301752" y="932688"/>
            <a:ext cx="8531352" cy="1737360"/>
          </a:xfrm>
          <a:prstGeom prst="rect">
            <a:avLst/>
          </a:prstGeom>
          <a:noFill/>
          <a:ln/>
        </p:spPr>
        <p:txBody>
          <a:bodyPr wrap="square" lIns="68580" tIns="68580" rIns="68580" bIns="6858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Helpfulness: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reasoning model (RM) should generate a good z = RM(P) such that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can be maximised, where </a:t>
            </a:r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 = log p_AM(Y* | P, decode(z)) − log p_AM(Y* | P)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Reasoning consistency: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 should read z and decode(z) in the same way to produce the same output: </a:t>
            </a:r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 p_AM(Y* | P, z) ↔ log p_AM(Y* | P, decode(z))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detailed regularization is required (to prevent leakage); I'll check later, the data is only stored on the machine.</a:t>
            </a:r>
            <a:endParaRPr lang="en-US" sz="1300" dirty="0"/>
          </a:p>
        </p:txBody>
      </p:sp>
      <p:sp>
        <p:nvSpPr>
          <p:cNvPr id="7" name="Body rule"/>
          <p:cNvSpPr/>
          <p:nvPr/>
        </p:nvSpPr>
        <p:spPr>
          <a:xfrm>
            <a:off x="301752" y="2816352"/>
            <a:ext cx="85313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Notes"/>
          <p:cNvSpPr txBox="1"/>
          <p:nvPr/>
        </p:nvSpPr>
        <p:spPr>
          <a:xfrm>
            <a:off x="301752" y="2889504"/>
            <a:ext cx="4160520" cy="914400"/>
          </a:xfrm>
          <a:prstGeom prst="rect">
            <a:avLst/>
          </a:prstGeom>
          <a:noFill/>
          <a:ln/>
        </p:spPr>
        <p:txBody>
          <a:bodyPr wrap="square" lIns="68580" tIns="68580" rIns="68580" bIns="6858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consistency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Currently no good idea about this part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Might need another judge model; too many axes to tune</a:t>
            </a:r>
            <a:endParaRPr lang="en-US" sz="1200" dirty="0"/>
          </a:p>
        </p:txBody>
      </p:sp>
      <p:pic>
        <p:nvPicPr>
          <p:cNvPr id="9" name="Figure from last week (draw.io export)" descr="/home/torridfish/Downloads/slides/research-slides/project/assets/Diagrams/anchorseg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971800"/>
            <a:ext cx="4160520" cy="1737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Coding evaluation pipeline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HumanEval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u="sng" dirty="0">
                <a:solidFill>
                  <a:srgbClr val="0000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https://github.com/torridfish/lrm/issues/6</a:t>
            </a:r>
            <a:endParaRPr lang="en-US" dirty="0"/>
          </a:p>
        </p:txBody>
      </p:sp>
      <p:sp>
        <p:nvSpPr>
          <p:cNvPr id="6" name="Label"/>
          <p:cNvSpPr txBox="1"/>
          <p:nvPr/>
        </p:nvSpPr>
        <p:spPr>
          <a:xfrm>
            <a:off x="365760" y="969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Prompt:</a:t>
            </a:r>
            <a:endParaRPr lang="en-US" sz="1300" dirty="0"/>
          </a:p>
        </p:txBody>
      </p:sp>
      <p:pic>
        <p:nvPicPr>
          <p:cNvPr id="7" name="HumanEval prompt (Carbon)" descr="/home/torridfish/Downloads/slides/research-slides/project/assets/Code/humaneval-prom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243584"/>
            <a:ext cx="4572000" cy="2235200"/>
          </a:xfrm>
          <a:prstGeom prst="rect">
            <a:avLst/>
          </a:prstGeom>
        </p:spPr>
      </p:pic>
      <p:sp>
        <p:nvSpPr>
          <p:cNvPr id="8" name="Label"/>
          <p:cNvSpPr txBox="1"/>
          <p:nvPr/>
        </p:nvSpPr>
        <p:spPr>
          <a:xfrm>
            <a:off x="36576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Response: (Qwen3-8B-Base)</a:t>
            </a:r>
            <a:endParaRPr lang="en-US" sz="1300" dirty="0"/>
          </a:p>
        </p:txBody>
      </p:sp>
      <p:pic>
        <p:nvPicPr>
          <p:cNvPr id="9" name="Response A (Carbon)" descr="/home/torridfish/Downloads/slides/research-slides/project/assets/Code/response-qwen3-8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840480"/>
            <a:ext cx="1825256" cy="914400"/>
          </a:xfrm>
          <a:prstGeom prst="rect">
            <a:avLst/>
          </a:prstGeom>
        </p:spPr>
      </p:pic>
      <p:sp>
        <p:nvSpPr>
          <p:cNvPr id="10" name="Label"/>
          <p:cNvSpPr txBox="1"/>
          <p:nvPr/>
        </p:nvSpPr>
        <p:spPr>
          <a:xfrm>
            <a:off x="4745736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Response: (stopgrad-shallow-u-detach)</a:t>
            </a:r>
            <a:endParaRPr lang="en-US" sz="1300" dirty="0"/>
          </a:p>
        </p:txBody>
      </p:sp>
      <p:pic>
        <p:nvPicPr>
          <p:cNvPr id="11" name="Response B (Carbon)" descr="/home/torridfish/Downloads/slides/research-slides/project/assets/Code/response-stop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840480"/>
            <a:ext cx="1967023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Setup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Training loss and the two-stage procedure</a:t>
            </a:r>
            <a:endParaRPr lang="en-US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301752" y="932688"/>
            <a:ext cx="8531352" cy="5577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mask loss is averaged over the four decoder outputs; BCE and Dice are weighted 5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Rendered with the local TeX Live by the research-slides skill (tex2img.sh); sources under assets/Math/.</a:t>
            </a:r>
            <a:endParaRPr lang="en-US" dirty="0"/>
          </a:p>
        </p:txBody>
      </p:sp>
      <p:pic>
        <p:nvPicPr>
          <p:cNvPr id="7" name="Mask loss (TeX render)" descr="/home/torridfish/Downloads/slides/research-slides/project/assets/Math/loss-m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481328"/>
            <a:ext cx="3326130" cy="217170"/>
          </a:xfrm>
          <a:prstGeom prst="rect">
            <a:avLst/>
          </a:prstGeom>
        </p:spPr>
      </p:pic>
      <p:pic>
        <p:nvPicPr>
          <p:cNvPr id="8" name="Algorithm 1 (TeX render)" descr="/home/torridfish/Downloads/slides/research-slides/project/assets/Math/algorithm-two-st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65960"/>
            <a:ext cx="4466844" cy="17122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Experiment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Category C: Observation</a:t>
            </a:r>
            <a:endParaRPr lang="en-US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301752" y="932688"/>
            <a:ext cx="8531352" cy="5577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weight, BCE, negative oversampling only adjust the threshold, doesn't improve the performance much.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 rejection failed. Possible reason might come from that current supervision cannot teach LLM to do so.</a:t>
            </a:r>
            <a:endParaRPr lang="en-US" sz="1200" dirty="0"/>
          </a:p>
        </p:txBody>
      </p:sp>
      <p:sp>
        <p:nvSpPr>
          <p:cNvPr id="6" name="Notes"/>
          <p:cNvSpPr txBox="1"/>
          <p:nvPr/>
        </p:nvSpPr>
        <p:spPr>
          <a:xfrm>
            <a:off x="301752" y="1600200"/>
            <a:ext cx="8531352" cy="2194560"/>
          </a:xfrm>
          <a:prstGeom prst="rect">
            <a:avLst/>
          </a:prstGeom>
          <a:noFill/>
          <a:ln/>
        </p:spPr>
        <p:txBody>
          <a:bodyPr wrap="square" lIns="68580" tIns="68580" rIns="68580" bIns="6858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Union + LM [REJ]: multi-positive over voxels, decision loss on logit margin (</a:t>
            </a:r>
            <a:pPr indent="0" marL="0">
              <a:buNone/>
            </a:pPr>
            <a:r>
              <a:rPr lang="en-US" sz="800" dirty="0">
                <a:solidFill>
                  <a:srgbClr val="2B3038"/>
                </a:solidFill>
                <a:highlight>
                  <a:srgbClr val="F4F4F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pos_weight 15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Union + head null: softmax over [null, voxels]; no-target samples ×1 (6%) and ×5 (~24%)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9CB9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⤷ 4-03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best of the category C setups on ScanRefer Acc@0.25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Next: train the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task-agnostic proposal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only, benchmark on ScanNet200 against CLASP and Mask3D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Disk炸滿了，why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clean </a:t>
            </a:r>
            <a:pPr indent="0" marL="0">
              <a:buNone/>
            </a:pPr>
            <a:r>
              <a:rPr lang="en-US" sz="800" dirty="0">
                <a:solidFill>
                  <a:srgbClr val="2B3038"/>
                </a:solidFill>
                <a:highlight>
                  <a:srgbClr val="F4F4F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data/precomputed_voxel_1_5/local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merging its GT-mask keys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Setup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Prompt template</a:t>
            </a:r>
            <a:endParaRPr lang="en-US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301752" y="932688"/>
            <a:ext cx="8531352" cy="5577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Chat-Scene alike: scene info in the user turn, task query after two newlines.</a:t>
            </a:r>
            <a:endParaRPr lang="en-US" sz="1200" dirty="0"/>
          </a:p>
        </p:txBody>
      </p:sp>
      <p:sp>
        <p:nvSpPr>
          <p:cNvPr id="6" name="Prompt template"/>
          <p:cNvSpPr txBox="1"/>
          <p:nvPr/>
        </p:nvSpPr>
        <p:spPr>
          <a:xfrm>
            <a:off x="301752" y="1600200"/>
            <a:ext cx="8531352" cy="2377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helpful agent for indoor 3D scene understanding tasks. Answer the user's questions about the indoor scene.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pPr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{Scene info}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\n\n{Task query}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{Task response}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C9DA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5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helpful assistant.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C9DA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&lt;|im_end|&gt;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C9DA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C9DA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&lt;|vision_start|&gt;&lt;|pointcloud_pad|&gt;&lt;|vision_end|&gt;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{target_sentence}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C9DA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&lt;|im_end|&gt;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C9DA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Experiment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Category B setups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b="1" u="sng" dirty="0">
                <a:solidFill>
                  <a:srgbClr val="000000"/>
                </a:solidFill>
              </a:rPr>
              <a:t>*1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→ means the difference from the base run.</a:t>
            </a:r>
            <a:endParaRPr lang="en-US" dirty="0"/>
          </a:p>
        </p:txBody>
      </p:sp>
      <p:sp>
        <p:nvSpPr>
          <p:cNvPr id="6" name="Run label"/>
          <p:cNvSpPr txBox="1"/>
          <p:nvPr/>
        </p:nvSpPr>
        <p:spPr>
          <a:xfrm>
            <a:off x="64008" y="1024128"/>
            <a:ext cx="731520" cy="3200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4-01</a:t>
            </a:r>
            <a:endParaRPr lang="en-US" sz="1150" dirty="0"/>
          </a:p>
        </p:txBody>
      </p:sp>
      <p:pic>
        <p:nvPicPr>
          <p:cNvPr id="7" name="Run matrix for the category B setups" descr="/tmp/claude-1000/-home-torridfish-Downloads-slides/120c0694-8c40-4ae3-895f-f20aa4908c6d/scratchpad/ds/project/assets/Figures/run-table-category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371600"/>
            <a:ext cx="8842248" cy="3044952"/>
          </a:xfrm>
          <a:prstGeom prst="rect">
            <a:avLst/>
          </a:prstGeom>
        </p:spPr>
      </p:pic>
      <p:sp>
        <p:nvSpPr>
          <p:cNvPr id="8" name="Outline"/>
          <p:cNvSpPr/>
          <p:nvPr/>
        </p:nvSpPr>
        <p:spPr>
          <a:xfrm>
            <a:off x="274320" y="4023360"/>
            <a:ext cx="1371600" cy="274320"/>
          </a:xfrm>
          <a:prstGeom prst="rect">
            <a:avLst/>
          </a:prstGeom>
          <a:ln w="19050">
            <a:solidFill>
              <a:srgbClr val="FF0000"/>
            </a:solidFill>
            <a:prstDash val="solid"/>
          </a:ln>
        </p:spPr>
      </p:sp>
      <p:sp>
        <p:nvSpPr>
          <p:cNvPr id="9" name="Overlay peach"/>
          <p:cNvSpPr/>
          <p:nvPr/>
        </p:nvSpPr>
        <p:spPr>
          <a:xfrm>
            <a:off x="155448" y="2432304"/>
            <a:ext cx="8842248" cy="384048"/>
          </a:xfrm>
          <a:prstGeom prst="rect">
            <a:avLst/>
          </a:prstGeom>
          <a:solidFill>
            <a:srgbClr val="FFDC9F">
              <a:alpha val="50000"/>
            </a:srgbClr>
          </a:solidFill>
          <a:ln/>
        </p:spPr>
      </p:sp>
      <p:sp>
        <p:nvSpPr>
          <p:cNvPr id="10" name="Overlay pink"/>
          <p:cNvSpPr/>
          <p:nvPr/>
        </p:nvSpPr>
        <p:spPr>
          <a:xfrm>
            <a:off x="3566160" y="3611880"/>
            <a:ext cx="2834640" cy="182880"/>
          </a:xfrm>
          <a:prstGeom prst="rect">
            <a:avLst/>
          </a:prstGeom>
          <a:solidFill>
            <a:srgbClr val="FFACAC">
              <a:alpha val="5000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TODO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Week of Oct. 13</a:t>
            </a:r>
            <a:endParaRPr lang="en-US" dirty="0"/>
          </a:p>
        </p:txBody>
      </p:sp>
      <p:sp>
        <p:nvSpPr>
          <p:cNvPr id="5" name="Notes"/>
          <p:cNvSpPr txBox="1"/>
          <p:nvPr/>
        </p:nvSpPr>
        <p:spPr>
          <a:xfrm>
            <a:off x="301752" y="932688"/>
            <a:ext cx="8531352" cy="2194560"/>
          </a:xfrm>
          <a:prstGeom prst="rect">
            <a:avLst/>
          </a:prstGeom>
          <a:noFill/>
          <a:ln/>
        </p:spPr>
        <p:txBody>
          <a:bodyPr wrap="square" lIns="68580" tIns="68580" rIns="68580" bIns="6858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- 08/31 – 09/03: AMD HPC under maintenance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experiment results of the new VAE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Does the VAE form a space that is good for the FM model to generate?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Does the backbone use the thoughts to solve the problem?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Error-case classification (thought / generated code)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Apply the new VAE with the pretrained flow_proj; ablate flow_proj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Faithfulness interpretability on HumanEval once the machine is back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13064" y="4828032"/>
            <a:ext cx="813816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91440" tIns="45720" rIns="91440" bIns="45720" anchor="ctr"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Slides">
  <a:themeElements>
    <a:clrScheme name="Research Slides">
      <a:dk1>
        <a:srgbClr val="000000"/>
      </a:dk1>
      <a:lt1>
        <a:srgbClr val="FFFFFF"/>
      </a:lt1>
      <a:dk2>
        <a:srgbClr val="595959"/>
      </a:dk2>
      <a:lt2>
        <a:srgbClr val="F4F4F4"/>
      </a:lt2>
      <a:accent1>
        <a:srgbClr val="9C6B1E"/>
      </a:accent1>
      <a:accent2>
        <a:srgbClr val="1155CC"/>
      </a:accent2>
      <a:accent3>
        <a:srgbClr val="188038"/>
      </a:accent3>
      <a:accent4>
        <a:srgbClr val="CC0000"/>
      </a:accent4>
      <a:accent5>
        <a:srgbClr val="CFE2F3"/>
      </a:accent5>
      <a:accent6>
        <a:srgbClr val="FCE5CD"/>
      </a:accent6>
      <a:hlink>
        <a:srgbClr val="0000EE"/>
      </a:hlink>
      <a:folHlink>
        <a:srgbClr val="0000EE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Slides template</dc:title>
  <dc:subject>Research progress decks</dc:subject>
  <dc:creator>torridfish</dc:creator>
  <cp:lastModifiedBy>torridfish</cp:lastModifiedBy>
  <cp:revision>1</cp:revision>
  <dcterms:created xsi:type="dcterms:W3CDTF">2026-10-29T04:30:00Z</dcterms:created>
  <dcterms:modified xsi:type="dcterms:W3CDTF">2026-10-29T04:30:00Z</dcterms:modified>
</cp:coreProperties>
</file>