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s" id="{74da7f44-836c-b97c-ba86-e1841c6fd802}">
          <p14:sldIdLst/>
        </p14:section>
        <p14:section name="Default-1" id="{bd91bf3c-cc33-0329-eb53-8ddcf4ed30f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CoverSlide: photo under veil (78% white), cover-title 26pt bold, cover-subtitle 14pt bold Arial in ink-muted. Date form: Oct. 28, 2026. No slide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SectionSlide: the cover without the subtitle; title is the section question; optional footnote link to the tracking issue.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SectionPlain: a white divider with one centred line of slide-title at 2.57in and the slide number. The presenter name at the head of a block in a shared deck, or a sub-section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FigureSlide: ContentHeader + LeadParagraph + FigureFrame + Footnote. The figure is a draw.io export; it sits between body-top (1.55in) and body-bottom (5.20in), no border.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DiagramPalette: copy elements from the kit, keep the style string, change the label, export, place with FigureFrame. fig- tokens only; labels Times New Roman; ❄️ frozen / 🔥 trainable are the only emoji.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TableSlide / ResultsTable at (0.56, 1.14)in, 9pt, 0.75pt grid; header and reference row D9D9D9, group one CFE2F3, group two FCE5CD; bold the best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SettingsTable: one row per paper/model, bold header on D1E0F9, 8pt, no bands; checks as the letter v; numbered notes in 8pt 595959 directly under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PaperSlide: area as title, paper as topic, typed-dash notes in Times New Roman 12pt with a 0.075in inset, the paper's own figures in the body, arXiv link as *1. Figures never climb beside the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DiscussionSlide: 13pt Times New Roman prose fills the body; the key formula bold CC0000; a tentative aside 9E9E9E; one body rule splits the prose from a notes block and a figure. Left-aligned, never justified.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CodeCompare: every block is a Carbon image (monokai, Hack 14px, line numbers, no shadow, 2x) rendered by the research-slides skill; a 13pt serif label above each; responses in the two 4.55in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Equation + Pseudocode: LaTeX standalone renders at 400dpi placed at px/400 in (1:1 with 12pt body); algorithm2e ruled, line-numbered, no semicolons. Never typed with the equation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TextSlide: LeadParagraph + Bullets. Dash for observations, ➔ for consequences; inline code chip 8pt Courier New 2B3038 on F4F4F4; run callout on F9CB9C; urgent note bold CC0000.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PromptBlock: Courier New 10pt slide text; role labels bold; {placeholders} bold FF0000; chat-template tokens on C9DAF8; system prompt words in 1155CC. Not a Carbon image: the marks carry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FigureFrame + OverlayMarker: run-label 11.5pt Times New Roman above the picture; overlay-peach FFDC9F and overlay-pink FFACAC at 50%; outline 1.5pt FF0000 with no fill.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TodoSlide: title TODO, a dated dash list in Times New Roman 12pt with a 0.075in inset; bold the blocking item; ➔ for what follows. No figure, no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SECTION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78000"/>
            </a:srgb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7800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841248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EA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841248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orridfish/just3d/issues/17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orridfish/lrm/issues/6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pdf/2408.11039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505.05470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orridfish/lrm/issues/6" TargetMode="Externa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title"/>
          <p:cNvSpPr txBox="1"/>
          <p:nvPr/>
        </p:nvSpPr>
        <p:spPr>
          <a:xfrm>
            <a:off x="310896" y="1682496"/>
            <a:ext cx="852220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2600" dirty="0"/>
          </a:p>
        </p:txBody>
      </p:sp>
      <p:sp>
        <p:nvSpPr>
          <p:cNvPr id="3" name="Cover subtitle"/>
          <p:cNvSpPr txBox="1"/>
          <p:nvPr/>
        </p:nvSpPr>
        <p:spPr>
          <a:xfrm>
            <a:off x="329184" y="3968496"/>
            <a:ext cx="85222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Woven Anypoint Project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Oct. 28,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title"/>
          <p:cNvSpPr txBox="1"/>
          <p:nvPr/>
        </p:nvSpPr>
        <p:spPr>
          <a:xfrm>
            <a:off x="310896" y="1682496"/>
            <a:ext cx="852220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Experiment: Does KV cache help?</a:t>
            </a:r>
            <a:endParaRPr lang="en-US" sz="2600" dirty="0"/>
          </a:p>
        </p:txBody>
      </p:sp>
      <p:sp>
        <p:nvSpPr>
          <p:cNvPr id="3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Link: </a:t>
            </a:r>
            <a:pPr algn="l" indent="0" marL="0">
              <a:buNone/>
            </a:pPr>
            <a:r>
              <a:rPr lang="en-US" sz="800" u="sng" dirty="0">
                <a:solidFill>
                  <a:srgbClr val="0000E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https://github.com/torridfish/just3d/issues/17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 txBox="1"/>
          <p:nvPr/>
        </p:nvSpPr>
        <p:spPr>
          <a:xfrm>
            <a:off x="301752" y="2350008"/>
            <a:ext cx="8531352" cy="438912"/>
          </a:xfrm>
          <a:prstGeom prst="rect">
            <a:avLst/>
          </a:prstGeom>
          <a:noFill/>
          <a:ln/>
        </p:spPr>
        <p:txBody>
          <a:bodyPr wrap="square" lIns="34290" tIns="34290" rIns="34290" bIns="3429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冠霆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backbone as its own proposer</a:t>
            </a:r>
            <a:endParaRPr lang="en-US" sz="1250" dirty="0"/>
          </a:p>
        </p:txBody>
      </p:sp>
      <p:sp>
        <p:nvSpPr>
          <p:cNvPr id="4" name="Lead"/>
          <p:cNvSpPr txBox="1"/>
          <p:nvPr/>
        </p:nvSpPr>
        <p:spPr>
          <a:xfrm>
            <a:off x="301752" y="932688"/>
            <a:ext cx="8531352" cy="557784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Will KV cache benefit downstream tasks?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Will this architecture close the gap between real score and oracle grounding score?</a:t>
            </a:r>
            <a:endParaRPr lang="en-US" sz="1200" dirty="0"/>
          </a:p>
        </p:txBody>
      </p:sp>
      <p:sp>
        <p:nvSpPr>
          <p:cNvPr id="5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Proposal should be scene-shared, so KV cache </a:t>
            </a:r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reuse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here might not be the main proposal.</a:t>
            </a:r>
            <a:endParaRPr lang="en-US" sz="800" dirty="0"/>
          </a:p>
        </p:txBody>
      </p:sp>
      <p:pic>
        <p:nvPicPr>
          <p:cNvPr id="7" name="Figure: LLM backbone as its own proposer (draw.io export)" descr="/home/torridfish/Downloads/slides/research-slides/project/assets/Figures/diagram-propo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664208"/>
            <a:ext cx="5120640" cy="31272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draw.io diagram kit</a:t>
            </a:r>
            <a:endParaRPr lang="en-US" sz="1250" dirty="0"/>
          </a:p>
        </p:txBody>
      </p:sp>
      <p:sp>
        <p:nvSpPr>
          <p:cNvPr id="4" name="Lead"/>
          <p:cNvSpPr txBox="1"/>
          <p:nvPr/>
        </p:nvSpPr>
        <p:spPr>
          <a:xfrm>
            <a:off x="301752" y="932688"/>
            <a:ext cx="8531352" cy="557784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architecture figure is drawn in draw.io from this kit, exported at scale 2, and placed as a picture.</a:t>
            </a:r>
            <a:endParaRPr lang="en-US" sz="1200" dirty="0"/>
          </a:p>
        </p:txBody>
      </p:sp>
      <p:sp>
        <p:nvSpPr>
          <p:cNvPr id="5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Source: assets/Diagrams/research-slides-diagram-kit.drawio — export with the research-slides skill: scripts/drawio-export.sh</a:t>
            </a:r>
            <a:endParaRPr lang="en-US" sz="800" dirty="0"/>
          </a:p>
        </p:txBody>
      </p:sp>
      <p:pic>
        <p:nvPicPr>
          <p:cNvPr id="7" name="Research Slides diagram kit (draw.io export)" descr="/home/torridfish/Downloads/slides/research-slides/project/assets/Diagrams/research-slides-diagram-k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81328"/>
            <a:ext cx="7498080" cy="33101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ScanRefer</a:t>
            </a:r>
            <a:endParaRPr lang="en-US" sz="1250" dirty="0"/>
          </a:p>
        </p:txBody>
      </p:sp>
      <p:sp>
        <p:nvSpPr>
          <p:cNvPr id="4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2-92 is last week's reference; 4-00 is this week's run, 4-03 the best of the category C setups.</a:t>
            </a:r>
            <a:endParaRPr lang="en-US" sz="800" dirty="0"/>
          </a:p>
        </p:txBody>
      </p:sp>
      <p:graphicFrame>
        <p:nvGraphicFramePr>
          <p:cNvPr id="7" name="ScanRefer 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" y="1042416"/>
          <a:ext cx="69494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914400"/>
                <a:gridCol w="914400"/>
                <a:gridCol w="1143000"/>
                <a:gridCol w="114300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Name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Acc@0.25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Acc@0.50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Multiple Acc@0.25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Multiple Acc@0.50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Unique Acc@0.25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Unique Acc@0.50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2-92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0.5505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0.4969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0.4685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0.4215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0.8911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0.8103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4-00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0.5186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0.4708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0.4319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0.3925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0.8786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0.7957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4-02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0.4562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0.3170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0.3745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0.2354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0.7957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0.6558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4-03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0.4915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0.3482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0.4139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0.2684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0.8136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0.6797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4-04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0.4686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0.3295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0.3869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0.2449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0.8076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0.6808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4-05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0.4300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0.3014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0.3433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0.2188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0.7897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0.6444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4-06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0.4676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0.3295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0.3882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0.2506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0.7973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0.6575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4-07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0.4322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0.2974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0.3473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0.2141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0.7848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0.6434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4-08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0.4713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0.3345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0.3903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0.2500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0.8076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0.6851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4-09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0.4164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0.2803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0.3330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0.1978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0.7626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0.6228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4-10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0.4247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0.2939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0.3407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0.2118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0.7734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0.6347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4-11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0.4553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0.3254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0.3711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0.2430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0.8049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0.6678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4-12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0.4633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0.3318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0.3775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0.2481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0.8195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0.6797</a:t>
                      </a:r>
                      <a:endParaRPr lang="en-US" sz="9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Reasoning representation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work</a:t>
            </a:r>
            <a:endParaRPr lang="en-US" sz="1250" dirty="0"/>
          </a:p>
        </p:txBody>
      </p:sp>
      <p:sp>
        <p:nvSpPr>
          <p:cNvPr id="4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800" u="sng" dirty="0">
                <a:solidFill>
                  <a:srgbClr val="0000E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https://github.com/torridfish/lrm/issues/6</a:t>
            </a:r>
            <a:endParaRPr lang="en-US" sz="800" dirty="0"/>
          </a:p>
        </p:txBody>
      </p:sp>
      <p:graphicFrame>
        <p:nvGraphicFramePr>
          <p:cNvPr id="8" name="Setting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042416"/>
          <a:ext cx="79552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822960"/>
                <a:gridCol w="91440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representation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0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space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0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samplable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0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interpretable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0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examples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0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Discrete language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Native vocab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C3oT, CoT-Valve, Markovian Transformers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Continuous hidden state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Model residual stream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 1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Coconut, CODI, LOTUS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Learned latent tokens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Auxiliary codebook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 2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 3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Heima, CoLaR 4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Flow / diffusion latents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VAE latent space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LaDiR, FLaRe</a:t>
                      </a:r>
                      <a:endParaRPr lang="en-US" sz="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able notes"/>
          <p:cNvSpPr txBox="1"/>
          <p:nvPr/>
        </p:nvSpPr>
        <p:spPr>
          <a:xfrm>
            <a:off x="594360" y="306324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Recoverable to text through an auxiliary decoder (VQ-VAE / VAE decoder, SAE features), not directly readable.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No native thought distribution; sampling can be bolted on afterwards.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Heima ships an explainer that partially decodes its thinking tokens.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CoLaR: latent head predicts a distribution over compressed embeddings.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Backbone sharing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Transfusion</a:t>
            </a:r>
            <a:endParaRPr lang="en-US" sz="1250" dirty="0"/>
          </a:p>
        </p:txBody>
      </p:sp>
      <p:sp>
        <p:nvSpPr>
          <p:cNvPr id="4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800" u="sng" dirty="0">
                <a:solidFill>
                  <a:srgbClr val="0000E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https://arxiv.org/pdf/2408.11039</a:t>
            </a:r>
            <a:endParaRPr lang="en-US" sz="800" dirty="0"/>
          </a:p>
        </p:txBody>
      </p:sp>
      <p:sp>
        <p:nvSpPr>
          <p:cNvPr id="6" name="Notes"/>
          <p:cNvSpPr txBox="1"/>
          <p:nvPr/>
        </p:nvSpPr>
        <p:spPr>
          <a:xfrm>
            <a:off x="301752" y="932688"/>
            <a:ext cx="8531352" cy="1097280"/>
          </a:xfrm>
          <a:prstGeom prst="rect">
            <a:avLst/>
          </a:prstGeom>
          <a:noFill/>
          <a:ln/>
        </p:spPr>
        <p:txBody>
          <a:bodyPr wrap="square" lIns="68580" tIns="68580" rIns="68580" bIns="6858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 the transformer backbone between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autoregressive text generation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image generation (denoising)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modality-specific layers only at the input and output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Our analogue: one backbone for the answer tokens and the latent thought, a head per modality</a:t>
            </a:r>
            <a:endParaRPr lang="en-US" sz="1200" dirty="0"/>
          </a:p>
        </p:txBody>
      </p:sp>
      <p:pic>
        <p:nvPicPr>
          <p:cNvPr id="7" name="Paper figure 1 (stand-in: draw.io export)" descr="/home/torridfish/Downloads/slides/research-slides/project/assets/Diagrams/anchorseg_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2240280"/>
            <a:ext cx="3840480" cy="2514600"/>
          </a:xfrm>
          <a:prstGeom prst="rect">
            <a:avLst/>
          </a:prstGeom>
        </p:spPr>
      </p:pic>
      <p:pic>
        <p:nvPicPr>
          <p:cNvPr id="8" name="Paper figure 2 (stand-in: draw.io export)" descr="/home/torridfish/Downloads/slides/research-slides/project/assets/Diagrams/qwen_3d_architectu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542032"/>
            <a:ext cx="4462272" cy="22128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 quality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Helpfulness (WIP)</a:t>
            </a:r>
            <a:endParaRPr lang="en-US" sz="1250" dirty="0"/>
          </a:p>
        </p:txBody>
      </p:sp>
      <p:sp>
        <p:nvSpPr>
          <p:cNvPr id="4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800" u="sng" dirty="0">
                <a:solidFill>
                  <a:srgbClr val="0000E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https://arxiv.org/abs/2505.05470</a:t>
            </a:r>
            <a:endParaRPr lang="en-US" sz="800" dirty="0"/>
          </a:p>
        </p:txBody>
      </p:sp>
      <p:sp>
        <p:nvSpPr>
          <p:cNvPr id="6" name="Prose"/>
          <p:cNvSpPr txBox="1"/>
          <p:nvPr/>
        </p:nvSpPr>
        <p:spPr>
          <a:xfrm>
            <a:off x="301752" y="932688"/>
            <a:ext cx="8531352" cy="1737360"/>
          </a:xfrm>
          <a:prstGeom prst="rect">
            <a:avLst/>
          </a:prstGeom>
          <a:noFill/>
          <a:ln/>
        </p:spPr>
        <p:txBody>
          <a:bodyPr wrap="square" lIns="68580" tIns="68580" rIns="68580" bIns="6858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Helpfulness: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reasoning model (RM) should generate a good z = RM(P) such that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delta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can be maximised, where </a:t>
            </a:r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delta = log p_AM(Y* | P, decode(z)) − log p_AM(Y* | P)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Reasoning consistency: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 should read z and decode(z) in the same way to produce the same output: </a:t>
            </a:r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 p_AM(Y* | P, z) ↔ log p_AM(Y* | P, decode(z))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E9E9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Other detailed regularization is required (to prevent leakage); I'll check later, the data is only stored on the machine.</a:t>
            </a:r>
            <a:endParaRPr lang="en-US" sz="1300" dirty="0"/>
          </a:p>
        </p:txBody>
      </p:sp>
      <p:sp>
        <p:nvSpPr>
          <p:cNvPr id="7" name="Body rule"/>
          <p:cNvSpPr/>
          <p:nvPr/>
        </p:nvSpPr>
        <p:spPr>
          <a:xfrm>
            <a:off x="301752" y="2816352"/>
            <a:ext cx="8531352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Notes"/>
          <p:cNvSpPr txBox="1"/>
          <p:nvPr/>
        </p:nvSpPr>
        <p:spPr>
          <a:xfrm>
            <a:off x="301752" y="2889504"/>
            <a:ext cx="4160520" cy="914400"/>
          </a:xfrm>
          <a:prstGeom prst="rect">
            <a:avLst/>
          </a:prstGeom>
          <a:noFill/>
          <a:ln/>
        </p:spPr>
        <p:txBody>
          <a:bodyPr wrap="square" lIns="68580" tIns="68580" rIns="68580" bIns="6858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Logical consistency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Currently no good idea about this part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Might need another judge model; too many axes to tune</a:t>
            </a:r>
            <a:endParaRPr lang="en-US" sz="1200" dirty="0"/>
          </a:p>
        </p:txBody>
      </p:sp>
      <p:pic>
        <p:nvPicPr>
          <p:cNvPr id="9" name="Figure from last week (draw.io export)" descr="/home/torridfish/Downloads/slides/research-slides/project/assets/Diagrams/anchorseg_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8" y="2971800"/>
            <a:ext cx="4160520" cy="1737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evaluation pipeline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HumanEval</a:t>
            </a:r>
            <a:endParaRPr lang="en-US" sz="1250" dirty="0"/>
          </a:p>
        </p:txBody>
      </p:sp>
      <p:sp>
        <p:nvSpPr>
          <p:cNvPr id="4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800" u="sng" dirty="0">
                <a:solidFill>
                  <a:srgbClr val="0000E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https://github.com/torridfish/lrm/issues/6</a:t>
            </a:r>
            <a:endParaRPr lang="en-US" sz="800" dirty="0"/>
          </a:p>
        </p:txBody>
      </p:sp>
      <p:sp>
        <p:nvSpPr>
          <p:cNvPr id="6" name="Label"/>
          <p:cNvSpPr txBox="1"/>
          <p:nvPr/>
        </p:nvSpPr>
        <p:spPr>
          <a:xfrm>
            <a:off x="365760" y="9692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Prompt:</a:t>
            </a:r>
            <a:endParaRPr lang="en-US" sz="1300" dirty="0"/>
          </a:p>
        </p:txBody>
      </p:sp>
      <p:pic>
        <p:nvPicPr>
          <p:cNvPr id="7" name="HumanEval prompt (Carbon)" descr="/home/torridfish/Downloads/slides/research-slides/project/assets/Code/humaneval-promp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243584"/>
            <a:ext cx="4572000" cy="2235200"/>
          </a:xfrm>
          <a:prstGeom prst="rect">
            <a:avLst/>
          </a:prstGeom>
        </p:spPr>
      </p:pic>
      <p:sp>
        <p:nvSpPr>
          <p:cNvPr id="8" name="Label"/>
          <p:cNvSpPr txBox="1"/>
          <p:nvPr/>
        </p:nvSpPr>
        <p:spPr>
          <a:xfrm>
            <a:off x="365760" y="3566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Response: (Qwen3-8B-Base)</a:t>
            </a:r>
            <a:endParaRPr lang="en-US" sz="1300" dirty="0"/>
          </a:p>
        </p:txBody>
      </p:sp>
      <p:pic>
        <p:nvPicPr>
          <p:cNvPr id="9" name="Response A (Carbon)" descr="/home/torridfish/Downloads/slides/research-slides/project/assets/Code/response-qwen3-8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3840480"/>
            <a:ext cx="1825256" cy="914400"/>
          </a:xfrm>
          <a:prstGeom prst="rect">
            <a:avLst/>
          </a:prstGeom>
        </p:spPr>
      </p:pic>
      <p:sp>
        <p:nvSpPr>
          <p:cNvPr id="10" name="Label"/>
          <p:cNvSpPr txBox="1"/>
          <p:nvPr/>
        </p:nvSpPr>
        <p:spPr>
          <a:xfrm>
            <a:off x="4745736" y="3566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Response: (stopgrad-shallow-u-detach)</a:t>
            </a:r>
            <a:endParaRPr lang="en-US" sz="1300" dirty="0"/>
          </a:p>
        </p:txBody>
      </p:sp>
      <p:pic>
        <p:nvPicPr>
          <p:cNvPr id="11" name="Response B (Carbon)" descr="/home/torridfish/Downloads/slides/research-slides/project/assets/Code/response-stop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3840480"/>
            <a:ext cx="1967023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loss and the two-stage procedure</a:t>
            </a:r>
            <a:endParaRPr lang="en-US" sz="1250" dirty="0"/>
          </a:p>
        </p:txBody>
      </p:sp>
      <p:sp>
        <p:nvSpPr>
          <p:cNvPr id="4" name="Lead"/>
          <p:cNvSpPr txBox="1"/>
          <p:nvPr/>
        </p:nvSpPr>
        <p:spPr>
          <a:xfrm>
            <a:off x="301752" y="932688"/>
            <a:ext cx="8531352" cy="557784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mask loss is averaged over the four decoder outputs; BCE and Dice are weighted 5 each.</a:t>
            </a:r>
            <a:endParaRPr lang="en-US" sz="1200" dirty="0"/>
          </a:p>
        </p:txBody>
      </p:sp>
      <p:sp>
        <p:nvSpPr>
          <p:cNvPr id="5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Rendered with the local TeX Live by the research-slides skill (tex2img.sh); sources under assets/Math/.</a:t>
            </a:r>
            <a:endParaRPr lang="en-US" sz="800" dirty="0"/>
          </a:p>
        </p:txBody>
      </p:sp>
      <p:pic>
        <p:nvPicPr>
          <p:cNvPr id="7" name="Mask loss (TeX render)" descr="/home/torridfish/Downloads/slides/research-slides/project/assets/Math/loss-m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" y="1481328"/>
            <a:ext cx="3326130" cy="217170"/>
          </a:xfrm>
          <a:prstGeom prst="rect">
            <a:avLst/>
          </a:prstGeom>
        </p:spPr>
      </p:pic>
      <p:pic>
        <p:nvPicPr>
          <p:cNvPr id="8" name="Algorithm 1 (TeX render)" descr="/home/torridfish/Downloads/slides/research-slides/project/assets/Math/algorithm-two-st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1965960"/>
            <a:ext cx="4466844" cy="171221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C: Observation</a:t>
            </a:r>
            <a:endParaRPr lang="en-US" sz="1250" dirty="0"/>
          </a:p>
        </p:txBody>
      </p:sp>
      <p:sp>
        <p:nvSpPr>
          <p:cNvPr id="4" name="Lead"/>
          <p:cNvSpPr txBox="1"/>
          <p:nvPr/>
        </p:nvSpPr>
        <p:spPr>
          <a:xfrm>
            <a:off x="301752" y="932688"/>
            <a:ext cx="8531352" cy="557784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Loss weight, BCE, negative oversampling only adjust the threshold, doesn't improve the performance much.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LM rejection failed. Possible reason might come from that current supervision cannot teach LLM to do so.</a:t>
            </a:r>
            <a:endParaRPr lang="en-US" sz="1200" dirty="0"/>
          </a:p>
        </p:txBody>
      </p:sp>
      <p:sp>
        <p:nvSpPr>
          <p:cNvPr id="6" name="Notes"/>
          <p:cNvSpPr txBox="1"/>
          <p:nvPr/>
        </p:nvSpPr>
        <p:spPr>
          <a:xfrm>
            <a:off x="301752" y="1600200"/>
            <a:ext cx="8531352" cy="2194560"/>
          </a:xfrm>
          <a:prstGeom prst="rect">
            <a:avLst/>
          </a:prstGeom>
          <a:noFill/>
          <a:ln/>
        </p:spPr>
        <p:txBody>
          <a:bodyPr wrap="square" lIns="68580" tIns="68580" rIns="68580" bIns="6858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Union + LM [REJ]: multi-positive over voxels, decision loss on logit margin (</a:t>
            </a:r>
            <a:pPr indent="0" marL="0">
              <a:buNone/>
            </a:pPr>
            <a:r>
              <a:rPr lang="en-US" sz="800" dirty="0">
                <a:solidFill>
                  <a:srgbClr val="2B3038"/>
                </a:solidFill>
                <a:highlight>
                  <a:srgbClr val="F4F4F4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pos_weight 15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Union + head null: softmax over [null, voxels]; no-target samples ×1 (6%) and ×5 (~24%)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highlight>
                  <a:srgbClr val="F9CB9C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⤷ 4-03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is the best of the category C setups on ScanRefer Acc@0.25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➔ Next: train the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task-agnostic proposal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part only, benchmark on ScanNet200 against CLASP and Mask3D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➔ </a:t>
            </a:r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Disk炸滿了，why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clean </a:t>
            </a:r>
            <a:pPr indent="0" marL="0">
              <a:buNone/>
            </a:pPr>
            <a:r>
              <a:rPr lang="en-US" sz="800" dirty="0">
                <a:solidFill>
                  <a:srgbClr val="2B3038"/>
                </a:solidFill>
                <a:highlight>
                  <a:srgbClr val="F4F4F4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data/precomputed_voxel_1_5/local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after merging its GT-mask keys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template</a:t>
            </a:r>
            <a:endParaRPr lang="en-US" sz="1250" dirty="0"/>
          </a:p>
        </p:txBody>
      </p:sp>
      <p:sp>
        <p:nvSpPr>
          <p:cNvPr id="4" name="Lead"/>
          <p:cNvSpPr txBox="1"/>
          <p:nvPr/>
        </p:nvSpPr>
        <p:spPr>
          <a:xfrm>
            <a:off x="301752" y="932688"/>
            <a:ext cx="8531352" cy="557784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Chat-Scene alike: scene info in the user turn, task query after two newlines.</a:t>
            </a:r>
            <a:endParaRPr lang="en-US" sz="1200" dirty="0"/>
          </a:p>
        </p:txBody>
      </p:sp>
      <p:sp>
        <p:nvSpPr>
          <p:cNvPr id="6" name="Prompt template"/>
          <p:cNvSpPr txBox="1"/>
          <p:nvPr/>
        </p:nvSpPr>
        <p:spPr>
          <a:xfrm>
            <a:off x="301752" y="1600200"/>
            <a:ext cx="8531352" cy="237744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helpful agent for indoor 3D scene understanding tasks. Answer the user's questions about the indoor scene.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</a:t>
            </a:r>
            <a:pPr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{Scene info}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\n\n{Task query}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{Task response}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C9DAF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5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helpful assistant.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C9DAF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&lt;|im_end|&gt;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C9DAF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C9DAF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&lt;|vision_start|&gt;&lt;|pointcloud_pad|&gt;&lt;|vision_end|&gt;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{target_sentence}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C9DAF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&lt;|im_end|&gt;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C9DAF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B setups</a:t>
            </a:r>
            <a:endParaRPr lang="en-US" sz="1250" dirty="0"/>
          </a:p>
        </p:txBody>
      </p:sp>
      <p:sp>
        <p:nvSpPr>
          <p:cNvPr id="4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means the difference from the base run.</a:t>
            </a:r>
            <a:endParaRPr lang="en-US" sz="800" dirty="0"/>
          </a:p>
        </p:txBody>
      </p:sp>
      <p:sp>
        <p:nvSpPr>
          <p:cNvPr id="6" name="Run label"/>
          <p:cNvSpPr txBox="1"/>
          <p:nvPr/>
        </p:nvSpPr>
        <p:spPr>
          <a:xfrm>
            <a:off x="64008" y="1024128"/>
            <a:ext cx="731520" cy="32004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4-01</a:t>
            </a:r>
            <a:endParaRPr lang="en-US" sz="1150" dirty="0"/>
          </a:p>
        </p:txBody>
      </p:sp>
      <p:pic>
        <p:nvPicPr>
          <p:cNvPr id="7" name="Run matrix for the category B setups" descr="/home/torridfish/Downloads/slides/research-slides/project/assets/Diagrams/research-slides-diagram-k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" y="1371600"/>
            <a:ext cx="8842248" cy="3044952"/>
          </a:xfrm>
          <a:prstGeom prst="rect">
            <a:avLst/>
          </a:prstGeom>
        </p:spPr>
      </p:pic>
      <p:sp>
        <p:nvSpPr>
          <p:cNvPr id="8" name="Outline"/>
          <p:cNvSpPr/>
          <p:nvPr/>
        </p:nvSpPr>
        <p:spPr>
          <a:xfrm>
            <a:off x="274320" y="4023360"/>
            <a:ext cx="1371600" cy="274320"/>
          </a:xfrm>
          <a:prstGeom prst="rect">
            <a:avLst/>
          </a:prstGeom>
          <a:ln w="19050">
            <a:solidFill>
              <a:srgbClr val="FF0000"/>
            </a:solidFill>
            <a:prstDash val="solid"/>
          </a:ln>
        </p:spPr>
      </p:sp>
      <p:sp>
        <p:nvSpPr>
          <p:cNvPr id="9" name="Overlay peach"/>
          <p:cNvSpPr/>
          <p:nvPr/>
        </p:nvSpPr>
        <p:spPr>
          <a:xfrm>
            <a:off x="155448" y="2432304"/>
            <a:ext cx="8842248" cy="384048"/>
          </a:xfrm>
          <a:prstGeom prst="rect">
            <a:avLst/>
          </a:prstGeom>
          <a:solidFill>
            <a:srgbClr val="FFDC9F">
              <a:alpha val="50000"/>
            </a:srgbClr>
          </a:solidFill>
          <a:ln/>
        </p:spPr>
      </p:sp>
      <p:sp>
        <p:nvSpPr>
          <p:cNvPr id="10" name="Overlay pink"/>
          <p:cNvSpPr/>
          <p:nvPr/>
        </p:nvSpPr>
        <p:spPr>
          <a:xfrm>
            <a:off x="3566160" y="3611880"/>
            <a:ext cx="2834640" cy="182880"/>
          </a:xfrm>
          <a:prstGeom prst="rect">
            <a:avLst/>
          </a:prstGeom>
          <a:solidFill>
            <a:srgbClr val="FFACAC">
              <a:alpha val="5000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of Oct. 13</a:t>
            </a:r>
            <a:endParaRPr lang="en-US" sz="1250" dirty="0"/>
          </a:p>
        </p:txBody>
      </p:sp>
      <p:sp>
        <p:nvSpPr>
          <p:cNvPr id="5" name="Notes"/>
          <p:cNvSpPr txBox="1"/>
          <p:nvPr/>
        </p:nvSpPr>
        <p:spPr>
          <a:xfrm>
            <a:off x="301752" y="932688"/>
            <a:ext cx="8531352" cy="2194560"/>
          </a:xfrm>
          <a:prstGeom prst="rect">
            <a:avLst/>
          </a:prstGeom>
          <a:noFill/>
          <a:ln/>
        </p:spPr>
        <p:txBody>
          <a:bodyPr wrap="square" lIns="68580" tIns="68580" rIns="68580" bIns="6858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- 08/31 – 09/03: AMD HPC under maintenance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Summarize experiment results of the new VAE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- Does the VAE form a space that is good for the FM model to generate?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- Does the backbone use the thoughts to solve the problem?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Error-case classification (thought / generated code)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Apply the new VAE with the pretrained flow_proj; ablate flow_proj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➔ Faithfulness interpretability on HumanEval once the machine is back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earch Slides">
  <a:themeElements>
    <a:clrScheme name="Research Slides">
      <a:dk1>
        <a:srgbClr val="000000"/>
      </a:dk1>
      <a:lt1>
        <a:srgbClr val="FFFFFF"/>
      </a:lt1>
      <a:dk2>
        <a:srgbClr val="595959"/>
      </a:dk2>
      <a:lt2>
        <a:srgbClr val="F4F4F4"/>
      </a:lt2>
      <a:accent1>
        <a:srgbClr val="9C6B1E"/>
      </a:accent1>
      <a:accent2>
        <a:srgbClr val="1155CC"/>
      </a:accent2>
      <a:accent3>
        <a:srgbClr val="188038"/>
      </a:accent3>
      <a:accent4>
        <a:srgbClr val="CC0000"/>
      </a:accent4>
      <a:accent5>
        <a:srgbClr val="CFE2F3"/>
      </a:accent5>
      <a:accent6>
        <a:srgbClr val="FCE5CD"/>
      </a:accent6>
      <a:hlink>
        <a:srgbClr val="0000EE"/>
      </a:hlink>
      <a:folHlink>
        <a:srgbClr val="0000EE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Slides template</dc:title>
  <dc:subject>Research progress decks</dc:subject>
  <dc:creator>torridfish</dc:creator>
  <cp:lastModifiedBy>torridfish</cp:lastModifiedBy>
  <cp:revision>1</cp:revision>
  <dcterms:created xsi:type="dcterms:W3CDTF">2026-10-29T06:57:24Z</dcterms:created>
  <dcterms:modified xsi:type="dcterms:W3CDTF">2026-10-29T06:57:24Z</dcterms:modified>
</cp:coreProperties>
</file>